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70" r:id="rId11"/>
    <p:sldId id="267" r:id="rId12"/>
    <p:sldId id="268" r:id="rId13"/>
    <p:sldId id="269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F9517-42E7-4151-AD65-D12948A701AD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018B4-C693-47C5-B49C-A054A5C7CED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312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018B4-C693-47C5-B49C-A054A5C7CED1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985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858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460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019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071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356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672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442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608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365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333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064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2146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3727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1168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6967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117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5A0C8-59C3-44C0-A93C-2A109B784ABF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9F30E84-A3EE-48F3-B81F-7446AE4EA0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34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80BCAE4-0918-3067-5366-E97E7689241B}"/>
              </a:ext>
            </a:extLst>
          </p:cNvPr>
          <p:cNvSpPr/>
          <p:nvPr/>
        </p:nvSpPr>
        <p:spPr>
          <a:xfrm>
            <a:off x="-1463845" y="358355"/>
            <a:ext cx="11532322" cy="147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070C0"/>
                </a:solidFill>
                <a:latin typeface="Rockwell" panose="02060603020205020403" pitchFamily="18" charset="0"/>
                <a:ea typeface="Saira Medium" pitchFamily="34" charset="-122"/>
                <a:cs typeface="Saira Medium" pitchFamily="34" charset="-120"/>
              </a:rPr>
              <a:t>AI-Driven Smart Review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070C0"/>
                </a:solidFill>
                <a:latin typeface="Rockwell" panose="02060603020205020403" pitchFamily="18" charset="0"/>
                <a:ea typeface="Saira Medium" pitchFamily="34" charset="-122"/>
                <a:cs typeface="Saira Medium" pitchFamily="34" charset="-120"/>
              </a:rPr>
              <a:t>System Using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070C0"/>
                </a:solidFill>
                <a:latin typeface="Rockwell" panose="02060603020205020403" pitchFamily="18" charset="0"/>
                <a:ea typeface="Saira Medium" pitchFamily="34" charset="-122"/>
                <a:cs typeface="Saira Medium" pitchFamily="34" charset="-120"/>
              </a:rPr>
              <a:t>Blockchain</a:t>
            </a:r>
            <a:endParaRPr lang="en-US" sz="4450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DCB4DF-F8C8-20F2-CEC3-4EABFDCFBF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53911" y="2699456"/>
            <a:ext cx="1605110" cy="3629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Project Details: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D656C9-FA37-E3DC-1A69-F2F2576E0C27}"/>
              </a:ext>
            </a:extLst>
          </p:cNvPr>
          <p:cNvSpPr/>
          <p:nvPr/>
        </p:nvSpPr>
        <p:spPr>
          <a:xfrm>
            <a:off x="1753911" y="3317510"/>
            <a:ext cx="28740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70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r>
              <a:rPr lang="en-US" sz="175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Muhammad Anas</a:t>
            </a:r>
          </a:p>
          <a:p>
            <a:pPr lvl="2">
              <a:lnSpc>
                <a:spcPts val="2850"/>
              </a:lnSpc>
              <a:buSzPct val="100000"/>
            </a:pP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  Malaika Mushtaq 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1F3C20-C1C8-47B2-3BA2-193F5BD961D7}"/>
              </a:ext>
            </a:extLst>
          </p:cNvPr>
          <p:cNvSpPr/>
          <p:nvPr/>
        </p:nvSpPr>
        <p:spPr>
          <a:xfrm>
            <a:off x="1753909" y="4232920"/>
            <a:ext cx="39470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70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Number:</a:t>
            </a:r>
            <a:r>
              <a:rPr lang="en-US" sz="1750" dirty="0">
                <a:solidFill>
                  <a:srgbClr val="0070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Fa22-Bse-014</a:t>
            </a:r>
          </a:p>
          <a:p>
            <a:pPr lvl="5">
              <a:lnSpc>
                <a:spcPts val="2850"/>
              </a:lnSpc>
              <a:buSzPct val="100000"/>
            </a:pP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    Fa22-Bse-007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328E90-0D56-C4FF-187C-70E12D4E231D}"/>
              </a:ext>
            </a:extLst>
          </p:cNvPr>
          <p:cNvSpPr/>
          <p:nvPr/>
        </p:nvSpPr>
        <p:spPr>
          <a:xfrm>
            <a:off x="1753908" y="5124413"/>
            <a:ext cx="39470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70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 Name:</a:t>
            </a:r>
            <a:r>
              <a:rPr lang="en-US" sz="1750" dirty="0">
                <a:solidFill>
                  <a:srgbClr val="0070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Dr Yaser Ali Shah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D6705-8D7F-1B7F-F29B-CC11E679A92D}"/>
              </a:ext>
            </a:extLst>
          </p:cNvPr>
          <p:cNvSpPr/>
          <p:nvPr/>
        </p:nvSpPr>
        <p:spPr>
          <a:xfrm>
            <a:off x="7735824" y="585216"/>
            <a:ext cx="4370832" cy="3273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DF10EE-8A9E-C5CC-9734-B93D1570AD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7848" y="528984"/>
            <a:ext cx="3986784" cy="33297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4617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5532-5ACA-8674-EB56-00A750A88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Introduction: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B2DB-786E-CFBA-D1DB-7D4A133A8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948045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2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The Crisis of Trust in Online Reviews: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Problem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Fake and manipulated reviews cost consumers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$152B annually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in misguided purchases.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Businesses struggle to get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authentic feedback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, while reviewers lack incentives.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Our Innovation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A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decentralized review ecosystem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that combines:</a:t>
            </a:r>
          </a:p>
          <a:p>
            <a:pPr lvl="2">
              <a:spcBef>
                <a:spcPts val="300"/>
              </a:spcBef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AI-powered moderation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(quality control)</a:t>
            </a:r>
          </a:p>
          <a:p>
            <a:pPr lvl="2">
              <a:spcBef>
                <a:spcPts val="300"/>
              </a:spcBef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Blockchain transparency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(tamper-proof and immutabl</a:t>
            </a:r>
            <a:r>
              <a:rPr lang="en-GB" dirty="0">
                <a:solidFill>
                  <a:schemeClr val="tx1"/>
                </a:solidFill>
                <a:latin typeface="DeepSeek-CJK-patch"/>
              </a:rPr>
              <a:t>e 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records)</a:t>
            </a:r>
          </a:p>
          <a:p>
            <a:pPr lvl="2">
              <a:spcBef>
                <a:spcPts val="300"/>
              </a:spcBef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Cryptocurrency incentives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(rewarding reviewers for 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submitting there genuine reviews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Why It Matters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Restores trust for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consumers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Provides actionable insights for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businesses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Creates a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fair, rewarding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platform for reviewers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0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DAF4-B821-9236-99AF-D254DF78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7BA2-9295-83F6-3FF6-987D5F29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Problem Statement: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018DA-39D8-0701-267B-F16D443A9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948045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4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Critical Gaps in Today’s Review Systems</a:t>
            </a:r>
            <a:r>
              <a:rPr lang="en-GB" sz="22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Pervasive Fake Reviews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1" dirty="0">
                <a:solidFill>
                  <a:schemeClr val="tx1"/>
                </a:solidFill>
                <a:effectLst/>
                <a:latin typeface="DeepSeek-CJK-patch"/>
              </a:rPr>
              <a:t>42% of online reviews are fraudulent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(Research 2023)</a:t>
            </a: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Consumers waste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$152B annually</a:t>
            </a: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 on misrepresented products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No Incentive for Honest Feedback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Reviewers spend time writing feedback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with zero rewards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Leads to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low-quality, rushed reviews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Centralized Manipulation Risks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Platforms/businesses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delete or alter negative reviews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1" dirty="0">
                <a:solidFill>
                  <a:schemeClr val="tx1"/>
                </a:solidFill>
                <a:effectLst/>
                <a:latin typeface="DeepSeek-CJK-patch"/>
              </a:rPr>
              <a:t>Example: Amazon sellers caught bribing for 5-star reviews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 Lack of Transparency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GB" b="0" i="0" dirty="0">
                <a:solidFill>
                  <a:schemeClr val="tx1"/>
                </a:solidFill>
                <a:effectLst/>
                <a:latin typeface="DeepSeek-CJK-patch"/>
              </a:rPr>
              <a:t>No way to verify if reviews </a:t>
            </a:r>
            <a:r>
              <a:rPr lang="en-GB" b="1" i="0" dirty="0">
                <a:solidFill>
                  <a:schemeClr val="tx1"/>
                </a:solidFill>
                <a:effectLst/>
                <a:latin typeface="DeepSeek-CJK-patch"/>
              </a:rPr>
              <a:t>are genuine or the 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businesses itself submit fake reviews </a:t>
            </a:r>
            <a:endParaRPr lang="en-GB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1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7BEF-F8E4-2FFB-89CD-D7D9D904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2EC9-5507-E04A-6ECD-7656826DD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Problem Solution: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F628-7780-FF13-F463-BC3AB72B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481249"/>
            <a:ext cx="8915400" cy="474536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Building Trust Through Technology</a:t>
            </a:r>
            <a:r>
              <a:rPr lang="en-GB" sz="96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Fake Reviews</a:t>
            </a:r>
            <a:endParaRPr lang="en-US" sz="6400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400" b="0" i="1" dirty="0">
                <a:solidFill>
                  <a:schemeClr val="tx1"/>
                </a:solidFill>
                <a:effectLst/>
                <a:latin typeface="DeepSeek-CJK-patch"/>
              </a:rPr>
              <a:t>Solution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Blockchain Timestamping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Every review gets a unique, unchangeable hash.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AI Behavioral Analysis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Flags suspicious patterns (e.g., bulk submissions).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PK" sz="6400" b="1" i="0" dirty="0">
                <a:solidFill>
                  <a:schemeClr val="tx1"/>
                </a:solidFill>
                <a:effectLst/>
                <a:latin typeface="DeepSeek-CJK-patch"/>
              </a:rPr>
              <a:t> </a:t>
            </a: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No Reviewer Incentives</a:t>
            </a:r>
            <a:endParaRPr lang="en-US" sz="6400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400" b="0" i="1" dirty="0">
                <a:solidFill>
                  <a:schemeClr val="tx1"/>
                </a:solidFill>
                <a:effectLst/>
                <a:latin typeface="DeepSeek-CJK-patch"/>
              </a:rPr>
              <a:t>Solution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Smart Contract Payments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Auto-sends 1 coin (ERC-20 token) per approved review.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Bonus Pool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0.5 extra coins if review reaches 10+ likes in 7 days.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PK" sz="6400" b="1" i="0" dirty="0">
                <a:solidFill>
                  <a:schemeClr val="tx1"/>
                </a:solidFill>
                <a:effectLst/>
                <a:latin typeface="DeepSeek-CJK-patch"/>
              </a:rPr>
              <a:t> </a:t>
            </a: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Centralized Manipulation</a:t>
            </a:r>
            <a:endParaRPr lang="en-US" sz="6400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400" b="0" i="1" dirty="0">
                <a:solidFill>
                  <a:schemeClr val="tx1"/>
                </a:solidFill>
                <a:effectLst/>
                <a:latin typeface="DeepSeek-CJK-patch"/>
              </a:rPr>
              <a:t>Solution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Decentralized Storage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Reviews on </a:t>
            </a: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IPFS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(</a:t>
            </a:r>
            <a:r>
              <a:rPr lang="en-GB" sz="6400" b="0" i="0" dirty="0">
                <a:solidFill>
                  <a:schemeClr val="tx1"/>
                </a:solidFill>
                <a:effectLst/>
                <a:latin typeface="DeepSeek-CJK-patch"/>
              </a:rPr>
              <a:t>A decentralized protocol for storing and sharing files (like reviews) across a peer-to-peer network) 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+ Ethereum (no single owner).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Public Ledger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Anyone can audit review authenticity.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PK" sz="6400" b="1" i="0" dirty="0">
                <a:solidFill>
                  <a:schemeClr val="tx1"/>
                </a:solidFill>
                <a:effectLst/>
                <a:latin typeface="DeepSeek-CJK-patch"/>
              </a:rPr>
              <a:t> </a:t>
            </a: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Lack of Transparency</a:t>
            </a:r>
            <a:endParaRPr lang="en-US" sz="6400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400" b="0" i="1" dirty="0">
                <a:solidFill>
                  <a:schemeClr val="tx1"/>
                </a:solidFill>
                <a:effectLst/>
                <a:latin typeface="DeepSeek-CJK-patch"/>
              </a:rPr>
              <a:t>Solution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User-Friendly Explorer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Built-in blockchain scanner to verify reviews.</a:t>
            </a:r>
          </a:p>
          <a:p>
            <a:pPr lvl="2">
              <a:spcBef>
                <a:spcPts val="300"/>
              </a:spcBef>
            </a:pPr>
            <a:r>
              <a:rPr lang="en-US" sz="6400" b="1" i="0" dirty="0">
                <a:solidFill>
                  <a:schemeClr val="tx1"/>
                </a:solidFill>
                <a:effectLst/>
                <a:latin typeface="DeepSeek-CJK-patch"/>
              </a:rPr>
              <a:t>AI Confidence Scores</a:t>
            </a:r>
            <a:r>
              <a:rPr lang="en-US" sz="6400" b="0" i="0" dirty="0">
                <a:solidFill>
                  <a:schemeClr val="tx1"/>
                </a:solidFill>
                <a:effectLst/>
                <a:latin typeface="DeepSeek-CJK-patch"/>
              </a:rPr>
              <a:t>: Shows "% likelihood" review is genuine.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13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00DE-812B-71FD-1D15-1B8E217B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1A2E-F472-BDFA-31A7-B73D1A06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CBE3-90B9-FBFB-2F5F-58166014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494" y="1981489"/>
            <a:ext cx="5616738" cy="3965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Module 1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 AI Moderation Engine </a:t>
            </a:r>
            <a:endParaRPr lang="en-GB" sz="2400" b="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 high-quality, constructive reviews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Sub-Components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GB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Wording Suggestions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Recommends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clearer phrasing based on historical "good" reviews.</a:t>
            </a:r>
          </a:p>
          <a:p>
            <a:pPr lvl="1">
              <a:spcBef>
                <a:spcPts val="300"/>
              </a:spcBef>
            </a:pPr>
            <a:r>
              <a:rPr lang="en-GB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Hate Speech Detection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Flags and blocks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abusive/contentious language (e.g., racism, threats).</a:t>
            </a:r>
          </a:p>
          <a:p>
            <a:pPr lvl="1">
              <a:spcBef>
                <a:spcPts val="300"/>
              </a:spcBef>
            </a:pPr>
            <a:r>
              <a:rPr lang="en-GB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Classifies reviews as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GB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Positive/Neutral/Negative for business insights.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F48FA-5897-4AEA-B4BE-44EDD5E2F8D8}"/>
              </a:ext>
            </a:extLst>
          </p:cNvPr>
          <p:cNvSpPr/>
          <p:nvPr/>
        </p:nvSpPr>
        <p:spPr>
          <a:xfrm>
            <a:off x="6312408" y="1462853"/>
            <a:ext cx="5879592" cy="47667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DC06B-2B75-C8B2-1E80-9BD2B7781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232" y="1299688"/>
            <a:ext cx="5763768" cy="531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9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2891-249A-221E-BA58-D8DBFAAB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038D-5ADE-B083-0021-86806A73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6DC3D-77DA-4FED-8E56-4ABEF9BCA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494" y="1981489"/>
            <a:ext cx="6901270" cy="3965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Module 2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 </a:t>
            </a:r>
            <a:r>
              <a:rPr lang="en-US" sz="240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Block chain Integration </a:t>
            </a:r>
            <a:endParaRPr lang="en-GB" sz="240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Purpose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Guarantee transparency and immutability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Sub-Components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i="1" dirty="0">
                <a:solidFill>
                  <a:schemeClr val="tx1"/>
                </a:solidFill>
                <a:latin typeface="DeepSeek-CJK-patch"/>
              </a:rPr>
              <a:t>Review Submissions: </a:t>
            </a:r>
            <a:r>
              <a:rPr lang="en-US" dirty="0">
                <a:solidFill>
                  <a:schemeClr val="tx1"/>
                </a:solidFill>
                <a:latin typeface="DeepSeek-CJK-patch"/>
              </a:rPr>
              <a:t>Submit review blockchain.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Review Storage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Hashes review data + metadata stored on-chain (Ethereum/IPFS).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Smart Contracts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Auto-execute:</a:t>
            </a:r>
          </a:p>
          <a:p>
            <a:pPr lvl="2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Coin payments to reviewers.</a:t>
            </a:r>
          </a:p>
          <a:p>
            <a:pPr lvl="2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Like-based bonus distribution.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Wallet Linking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Users connect MetaMask/Trust Wallet to receive coins.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4A5383-3602-4FF8-FFDC-55D235699C60}"/>
              </a:ext>
            </a:extLst>
          </p:cNvPr>
          <p:cNvGrpSpPr/>
          <p:nvPr/>
        </p:nvGrpSpPr>
        <p:grpSpPr>
          <a:xfrm>
            <a:off x="8211312" y="631388"/>
            <a:ext cx="3432048" cy="5917103"/>
            <a:chOff x="8732520" y="242812"/>
            <a:chExt cx="3432048" cy="59171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C8E5AF-4DF7-9F01-9D83-6D6EF41E7BFE}"/>
                </a:ext>
              </a:extLst>
            </p:cNvPr>
            <p:cNvSpPr/>
            <p:nvPr/>
          </p:nvSpPr>
          <p:spPr>
            <a:xfrm>
              <a:off x="8759952" y="631389"/>
              <a:ext cx="3404616" cy="552852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83CF63-FCEE-B6FA-34C7-DB96A5DE3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32520" y="242812"/>
              <a:ext cx="3432048" cy="56367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985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8BAA-4EB1-A1DB-73CD-DCEF63D2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84B6-E7EC-1BCC-B588-6D5F3211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4904C-E775-49C7-AA2C-1A1E878F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494" y="1981489"/>
            <a:ext cx="5699034" cy="3965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Module 3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 Reward &amp; </a:t>
            </a:r>
            <a:r>
              <a:rPr lang="en-US" sz="240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Like</a:t>
            </a:r>
            <a:endParaRPr lang="en-GB" sz="240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Purpose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Incentivization and user motivation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Sub-Components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i="1" dirty="0">
                <a:solidFill>
                  <a:schemeClr val="tx1"/>
                </a:solidFill>
                <a:latin typeface="DeepSeek-CJK-patch"/>
              </a:rPr>
              <a:t>Review Submissions: </a:t>
            </a:r>
            <a:r>
              <a:rPr lang="en-US" dirty="0">
                <a:solidFill>
                  <a:schemeClr val="tx1"/>
                </a:solidFill>
                <a:latin typeface="DeepSeek-CJK-patch"/>
              </a:rPr>
              <a:t>Submit review blockchain.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Review Storage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Hashes review data + metadata stored 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DeepSeek-CJK-patch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on-chain (Ethereum/IPFS).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Smart Contracts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Auto-execute:</a:t>
            </a:r>
          </a:p>
          <a:p>
            <a:pPr lvl="2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Coin payments to reviewers.</a:t>
            </a:r>
          </a:p>
          <a:p>
            <a:pPr lvl="2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Like-based bonus distribution.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Wallet Linking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Users connect MetaMask/Trust Wallet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DeepSeek-CJK-patch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to receive coins.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B9E48-41C7-2D21-C194-6B3439C1A6C7}"/>
              </a:ext>
            </a:extLst>
          </p:cNvPr>
          <p:cNvSpPr/>
          <p:nvPr/>
        </p:nvSpPr>
        <p:spPr>
          <a:xfrm>
            <a:off x="6656832" y="773077"/>
            <a:ext cx="5535168" cy="55285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500C97-49CF-7442-31CB-7E179A1EB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420" y="848068"/>
            <a:ext cx="5600884" cy="545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3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71E8-8438-487C-B9FF-92FFBF0F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A553-E294-27F0-CD5D-C5E51BD3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F4B1-D751-085A-83C5-F799CC6C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494" y="1981489"/>
            <a:ext cx="5699034" cy="3965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Module 4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 Admin Oversight </a:t>
            </a:r>
            <a:endParaRPr lang="en-GB" sz="240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Purpose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Maintain system integrity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Functions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Fraud Detection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AI flags suspicious patterns (e.g., sudden review spikes).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Coin Liquidity Management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Adjusts coin supply based on demand.</a:t>
            </a:r>
          </a:p>
          <a:p>
            <a:pPr lvl="1">
              <a:spcBef>
                <a:spcPts val="300"/>
              </a:spcBef>
            </a:pPr>
            <a:r>
              <a:rPr lang="en-US" b="0" i="1" dirty="0">
                <a:solidFill>
                  <a:schemeClr val="tx1"/>
                </a:solidFill>
                <a:effectLst/>
                <a:latin typeface="DeepSeek-CJK-patch"/>
              </a:rPr>
              <a:t>Dispute Resolution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Allows manual review overrides if AI errors.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8AE1AA-76A9-D2BE-4D23-21DC5F81B02E}"/>
              </a:ext>
            </a:extLst>
          </p:cNvPr>
          <p:cNvSpPr/>
          <p:nvPr/>
        </p:nvSpPr>
        <p:spPr>
          <a:xfrm>
            <a:off x="6656832" y="1604543"/>
            <a:ext cx="5535168" cy="29857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7A79B8-1AAE-D434-3064-4BF8FD298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7420" y="1604543"/>
            <a:ext cx="5600884" cy="3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9B2B-C8EE-7DCC-AA35-2D19A48F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242C-6B91-FFA3-F8C2-922AF910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51E2-0673-DDBA-60A0-C11001AF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494" y="1981489"/>
            <a:ext cx="5699034" cy="396539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Module 5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 Cloud </a:t>
            </a:r>
            <a:r>
              <a:rPr lang="en-US" sz="2400" dirty="0">
                <a:solidFill>
                  <a:srgbClr val="0070C0"/>
                </a:solidFill>
                <a:latin typeface="Rockwell" panose="02060603020205020403" pitchFamily="18" charset="0"/>
              </a:rPr>
              <a:t>Deployment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 </a:t>
            </a:r>
            <a:endParaRPr lang="en-GB" sz="240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Purpose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 Ensure scalability, reliability, and continuous delivery</a:t>
            </a:r>
          </a:p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Components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: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AWS/GCP Hosting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Frontend: Deployed on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S3/Cloud Storage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(static files)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Backend: Containerized with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Docker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+ orchestrated via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Kubernetes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CI/CD Pipeline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Automated testing (unit/integration) with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GitHub Actions/Jenkins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Zero-downtime deployments using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Blue-Green strategy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Auto-Scaling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Dynamic resource allocation based on traffic (e.g., 100→10,000 users)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Cost-optimized with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spot instances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for non-critical workloads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Disaster Recovery</a:t>
            </a:r>
            <a:endParaRPr lang="en-US" b="0" i="0" dirty="0">
              <a:solidFill>
                <a:schemeClr val="tx1"/>
              </a:solidFill>
              <a:effectLst/>
              <a:latin typeface="DeepSeek-CJK-patch"/>
            </a:endParaRP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Daily </a:t>
            </a: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automated backups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(RDS/Snapshots)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Multi-region failover (if primary zone crashes)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9389C-EA82-AC78-9967-5EE92FF35D7D}"/>
              </a:ext>
            </a:extLst>
          </p:cNvPr>
          <p:cNvSpPr/>
          <p:nvPr/>
        </p:nvSpPr>
        <p:spPr>
          <a:xfrm>
            <a:off x="6096000" y="1609343"/>
            <a:ext cx="6160008" cy="37305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81CD3-25C2-F02D-77C5-AD7CFC611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184" y="1609343"/>
            <a:ext cx="6198574" cy="363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8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9256A-4D06-8572-EE78-C1D5EA28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8ECE-D33C-2C69-03D5-2E8DB915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Methodology: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4B07D-8C28-C940-2316-C050E752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00" y="1540189"/>
            <a:ext cx="5382436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2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Flow Chart of the system: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8158B-0730-6B94-1599-B3ABB5836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73152"/>
            <a:ext cx="5928359" cy="69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9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62A0-A38F-D169-0611-79B135A8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0C0F-9CA2-DB65-EE1D-0C62481D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Tech Stack: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FB498-0CFF-D7B7-5E9B-070B1CF7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771" y="1462853"/>
            <a:ext cx="6327981" cy="4745363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sz="96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Built for scale and security</a:t>
            </a:r>
            <a:r>
              <a:rPr lang="en-GB" sz="96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</a:t>
            </a:r>
          </a:p>
          <a:p>
            <a:pPr>
              <a:buNone/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1. Frontend</a:t>
            </a:r>
          </a:p>
          <a:p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React.js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(Dynamic UI for businesses/reviewers)</a:t>
            </a:r>
          </a:p>
          <a:p>
            <a:pPr>
              <a:spcBef>
                <a:spcPts val="300"/>
              </a:spcBef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HTML &amp; CSS 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(Semantic markup + styling)</a:t>
            </a:r>
          </a:p>
          <a:p>
            <a:pPr>
              <a:spcBef>
                <a:spcPts val="300"/>
              </a:spcBef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Web3.js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(Blockchain wallet integration)</a:t>
            </a:r>
          </a:p>
          <a:p>
            <a:pPr>
              <a:buNone/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2. Backend</a:t>
            </a:r>
          </a:p>
          <a:p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Node.js + Express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(RESTful APIs)</a:t>
            </a:r>
          </a:p>
          <a:p>
            <a:pPr>
              <a:spcBef>
                <a:spcPts val="300"/>
              </a:spcBef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MongoDB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(User profiles, business data)</a:t>
            </a:r>
          </a:p>
          <a:p>
            <a:pPr>
              <a:spcBef>
                <a:spcPts val="300"/>
              </a:spcBef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Redis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(Session caching)</a:t>
            </a:r>
          </a:p>
          <a:p>
            <a:pPr>
              <a:buNone/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3. AI/ML</a:t>
            </a:r>
          </a:p>
          <a:p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Python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(Core NLP)</a:t>
            </a:r>
          </a:p>
          <a:p>
            <a:pPr>
              <a:spcBef>
                <a:spcPts val="300"/>
              </a:spcBef>
            </a:pPr>
            <a:r>
              <a:rPr lang="en-US" sz="6600" b="1" i="0" dirty="0">
                <a:solidFill>
                  <a:schemeClr val="tx1"/>
                </a:solidFill>
                <a:effectLst/>
                <a:latin typeface="DeepSeek-CJK-patch"/>
              </a:rPr>
              <a:t>Hugging Face Transformers</a:t>
            </a: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 (Pre-trained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6600" b="0" i="0" dirty="0">
                <a:solidFill>
                  <a:schemeClr val="tx1"/>
                </a:solidFill>
                <a:effectLst/>
                <a:latin typeface="DeepSeek-CJK-patch"/>
              </a:rPr>
              <a:t>	BERT for text analysis)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BE71-C8F2-544C-FAEF-E809D41F5CBA}"/>
              </a:ext>
            </a:extLst>
          </p:cNvPr>
          <p:cNvSpPr/>
          <p:nvPr/>
        </p:nvSpPr>
        <p:spPr>
          <a:xfrm>
            <a:off x="6355080" y="791365"/>
            <a:ext cx="5836920" cy="55285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B9321C-715B-2E62-B375-A5D6F1D49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778" y="791365"/>
            <a:ext cx="5901860" cy="571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D5AC-39E3-1A8A-D797-0836ADC9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48A4-B50B-F052-7552-FD724F9C5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Tech Stack: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C51D-C83B-E6B5-306E-3C7C68678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771" y="1462853"/>
            <a:ext cx="5523309" cy="39138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Built for scale and security:</a:t>
            </a:r>
            <a:endParaRPr lang="en-GB" sz="4800" b="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4. Blockchain</a:t>
            </a:r>
          </a:p>
          <a:p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Ethereum/Hyperledger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(Immutable storage)</a:t>
            </a:r>
          </a:p>
          <a:p>
            <a:pPr>
              <a:spcBef>
                <a:spcPts val="300"/>
              </a:spcBef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Solidity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(Smart contracts for payments)</a:t>
            </a:r>
          </a:p>
          <a:p>
            <a:pPr>
              <a:spcBef>
                <a:spcPts val="300"/>
              </a:spcBef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IPFS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(Decentralized review storage)</a:t>
            </a:r>
          </a:p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5. Cloud &amp; DevOps</a:t>
            </a:r>
          </a:p>
          <a:p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AWS/GCP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(EC2/Compute Engine for hosting)</a:t>
            </a:r>
          </a:p>
          <a:p>
            <a:pPr>
              <a:spcBef>
                <a:spcPts val="300"/>
              </a:spcBef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Docker + Kubernetes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(Container orchestration)</a:t>
            </a:r>
          </a:p>
          <a:p>
            <a:pPr>
              <a:spcBef>
                <a:spcPts val="300"/>
              </a:spcBef>
            </a:pPr>
            <a:r>
              <a:rPr lang="en-US" b="1" i="0" dirty="0">
                <a:solidFill>
                  <a:schemeClr val="tx1"/>
                </a:solidFill>
                <a:effectLst/>
                <a:latin typeface="DeepSeek-CJK-patch"/>
              </a:rPr>
              <a:t>GitHub Actions</a:t>
            </a:r>
            <a:r>
              <a:rPr lang="en-US" b="0" i="0" dirty="0">
                <a:solidFill>
                  <a:schemeClr val="tx1"/>
                </a:solidFill>
                <a:effectLst/>
                <a:latin typeface="DeepSeek-CJK-patch"/>
              </a:rPr>
              <a:t> (CI/CD pipelines)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F71EC-759F-5FF6-0EF5-A019535B8957}"/>
              </a:ext>
            </a:extLst>
          </p:cNvPr>
          <p:cNvSpPr/>
          <p:nvPr/>
        </p:nvSpPr>
        <p:spPr>
          <a:xfrm>
            <a:off x="6355080" y="791365"/>
            <a:ext cx="5836920" cy="55285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F659F-4DFF-9F33-5992-2F0BB1BCC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778" y="791365"/>
            <a:ext cx="5901860" cy="571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1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AEB9-5D9C-4A47-3FD9-8D0B71D3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29CF-7088-E08A-CA68-CDE2B96C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Comparative Analysis: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3EDC-C71C-D6EF-5B49-499D7AF1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462853"/>
            <a:ext cx="8915400" cy="4842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Analysis with </a:t>
            </a:r>
            <a:r>
              <a:rPr lang="en-US" sz="24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existing system</a:t>
            </a:r>
            <a:r>
              <a:rPr lang="en-GB" sz="22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4C26CB-A4C7-2B20-9410-C4866D3AAD00}"/>
              </a:ext>
            </a:extLst>
          </p:cNvPr>
          <p:cNvSpPr txBox="1">
            <a:spLocks/>
          </p:cNvSpPr>
          <p:nvPr/>
        </p:nvSpPr>
        <p:spPr>
          <a:xfrm>
            <a:off x="1441371" y="2052188"/>
            <a:ext cx="8915400" cy="4659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8CF774-D763-298B-BE1A-55B516702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71200"/>
              </p:ext>
            </p:extLst>
          </p:nvPr>
        </p:nvGraphicFramePr>
        <p:xfrm>
          <a:off x="2039113" y="2111286"/>
          <a:ext cx="8164012" cy="39308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32587">
                  <a:extLst>
                    <a:ext uri="{9D8B030D-6E8A-4147-A177-3AD203B41FA5}">
                      <a16:colId xmlns:a16="http://schemas.microsoft.com/office/drawing/2014/main" val="3231082974"/>
                    </a:ext>
                  </a:extLst>
                </a:gridCol>
                <a:gridCol w="1632587">
                  <a:extLst>
                    <a:ext uri="{9D8B030D-6E8A-4147-A177-3AD203B41FA5}">
                      <a16:colId xmlns:a16="http://schemas.microsoft.com/office/drawing/2014/main" val="4027121518"/>
                    </a:ext>
                  </a:extLst>
                </a:gridCol>
                <a:gridCol w="1632587">
                  <a:extLst>
                    <a:ext uri="{9D8B030D-6E8A-4147-A177-3AD203B41FA5}">
                      <a16:colId xmlns:a16="http://schemas.microsoft.com/office/drawing/2014/main" val="2072276034"/>
                    </a:ext>
                  </a:extLst>
                </a:gridCol>
                <a:gridCol w="1455524">
                  <a:extLst>
                    <a:ext uri="{9D8B030D-6E8A-4147-A177-3AD203B41FA5}">
                      <a16:colId xmlns:a16="http://schemas.microsoft.com/office/drawing/2014/main" val="1076279777"/>
                    </a:ext>
                  </a:extLst>
                </a:gridCol>
                <a:gridCol w="1810727">
                  <a:extLst>
                    <a:ext uri="{9D8B030D-6E8A-4147-A177-3AD203B41FA5}">
                      <a16:colId xmlns:a16="http://schemas.microsoft.com/office/drawing/2014/main" val="2157718339"/>
                    </a:ext>
                  </a:extLst>
                </a:gridCol>
              </a:tblGrid>
              <a:tr h="419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Feature/ Criteria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Trustpilot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Steemit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Google Reviews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Proposed System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1206135919"/>
                  </a:ext>
                </a:extLst>
              </a:tr>
              <a:tr h="539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Trust Mechanism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Centralized (Company-controlled)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Decentralized (Community votes)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Centralized (Google-controlled)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Hybrid (Blockchain + AI verification)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3885200411"/>
                  </a:ext>
                </a:extLst>
              </a:tr>
              <a:tr h="5630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Fake Review Prevention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Manual reporting + basic algorithms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No AI moderation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Algorithmic detection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NLP analysis + </a:t>
                      </a:r>
                      <a:endParaRPr lang="en-PK" sz="12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on-chain immutability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1311712198"/>
                  </a:ext>
                </a:extLst>
              </a:tr>
              <a:tr h="37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Incentivization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No rewards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STEEM tokens for upvotes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No rewards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Base coins + bonus for likes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2644764645"/>
                  </a:ext>
                </a:extLst>
              </a:tr>
              <a:tr h="539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Moderation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Human + Basic AI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Community voting only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Automated filters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speech detection + constructive feedback scoring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603187032"/>
                  </a:ext>
                </a:extLst>
              </a:tr>
              <a:tr h="373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Transparency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Company can remove reviews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Public blockchain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Google can alter visibility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IPFS + Blockchain storage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3788597902"/>
                  </a:ext>
                </a:extLst>
              </a:tr>
              <a:tr h="539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Scalability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High (Centralized servers)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PK" sz="12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Slow 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High (Google Cloud)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Private blockchain/Layer 2 solution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817207539"/>
                  </a:ext>
                </a:extLst>
              </a:tr>
              <a:tr h="539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User Control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Limited (Trustpilot owns data)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PK" sz="12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Users own content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PK" sz="12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Google owns data</a:t>
                      </a:r>
                      <a:endParaRPr lang="en-P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Wallet-owned data + decentralized identity</a:t>
                      </a:r>
                      <a:endParaRPr lang="en-P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12" marR="67412" marT="0" marB="0"/>
                </a:tc>
                <a:extLst>
                  <a:ext uri="{0D108BD9-81ED-4DB2-BD59-A6C34878D82A}">
                    <a16:rowId xmlns:a16="http://schemas.microsoft.com/office/drawing/2014/main" val="158833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57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67EE-D037-3807-19E6-F478DFD8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714E-2C55-DB3F-1C44-7FFEF4B7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1388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Work Breakdown Structure: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1CF1-1B2C-9913-2A04-4205997E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1462853"/>
            <a:ext cx="8915400" cy="4842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Analysis with </a:t>
            </a:r>
            <a:r>
              <a:rPr lang="en-US" sz="24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existing system</a:t>
            </a:r>
            <a:r>
              <a:rPr lang="en-GB" sz="22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:</a:t>
            </a:r>
          </a:p>
          <a:p>
            <a:pPr marL="0" indent="0">
              <a:buNone/>
            </a:pPr>
            <a:endParaRPr lang="en-PK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3F8047-CB73-4DEC-CCE6-58E95D526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15293"/>
              </p:ext>
            </p:extLst>
          </p:nvPr>
        </p:nvGraphicFramePr>
        <p:xfrm>
          <a:off x="1883331" y="1947112"/>
          <a:ext cx="8086844" cy="451408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85213">
                  <a:extLst>
                    <a:ext uri="{9D8B030D-6E8A-4147-A177-3AD203B41FA5}">
                      <a16:colId xmlns:a16="http://schemas.microsoft.com/office/drawing/2014/main" val="376318077"/>
                    </a:ext>
                  </a:extLst>
                </a:gridCol>
                <a:gridCol w="5635376">
                  <a:extLst>
                    <a:ext uri="{9D8B030D-6E8A-4147-A177-3AD203B41FA5}">
                      <a16:colId xmlns:a16="http://schemas.microsoft.com/office/drawing/2014/main" val="2183425582"/>
                    </a:ext>
                  </a:extLst>
                </a:gridCol>
                <a:gridCol w="1466255">
                  <a:extLst>
                    <a:ext uri="{9D8B030D-6E8A-4147-A177-3AD203B41FA5}">
                      <a16:colId xmlns:a16="http://schemas.microsoft.com/office/drawing/2014/main" val="1247804699"/>
                    </a:ext>
                  </a:extLst>
                </a:gridCol>
              </a:tblGrid>
              <a:tr h="460009">
                <a:tc>
                  <a:txBody>
                    <a:bodyPr/>
                    <a:lstStyle/>
                    <a:p>
                      <a:pPr marL="200025" algn="r">
                        <a:spcBef>
                          <a:spcPts val="420"/>
                        </a:spcBef>
                        <a:buNone/>
                      </a:pPr>
                      <a:r>
                        <a:rPr lang="en-US" sz="2000" kern="0" dirty="0">
                          <a:effectLst/>
                        </a:rPr>
                        <a:t>ID</a:t>
                      </a:r>
                      <a:endParaRPr lang="en-PK" sz="2000" b="1" kern="0" dirty="0">
                        <a:effectLst/>
                        <a:latin typeface="Rockwell" panose="02060603020205020403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 marL="200025">
                        <a:spcBef>
                          <a:spcPts val="420"/>
                        </a:spcBef>
                        <a:buNone/>
                      </a:pPr>
                      <a:r>
                        <a:rPr lang="en-US" sz="2000" kern="0" dirty="0">
                          <a:effectLst/>
                        </a:rPr>
                        <a:t>Task </a:t>
                      </a:r>
                      <a:endParaRPr lang="en-PK" sz="2000" b="1" kern="0" dirty="0">
                        <a:effectLst/>
                        <a:latin typeface="Rockwell" panose="02060603020205020403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 marL="200025">
                        <a:spcBef>
                          <a:spcPts val="420"/>
                        </a:spcBef>
                        <a:buNone/>
                      </a:pPr>
                      <a:r>
                        <a:rPr lang="en-US" sz="2000" kern="0" dirty="0">
                          <a:effectLst/>
                        </a:rPr>
                        <a:t>Duration</a:t>
                      </a:r>
                      <a:endParaRPr lang="en-PK" sz="2000" b="1" kern="0" dirty="0">
                        <a:effectLst/>
                        <a:latin typeface="Rockwell" panose="02060603020205020403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2954617247"/>
                  </a:ext>
                </a:extLst>
              </a:tr>
              <a:tr h="36618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1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User Management (M1 + M2 + M8)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28 days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617169737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1.1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Reviewers Authentication (M1)</a:t>
                      </a:r>
                      <a:endParaRPr lang="en-PK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7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693431098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1.2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Business Registration (M2)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7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2493042768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1.3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Wallet Integration (M8)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14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276855273"/>
                  </a:ext>
                </a:extLst>
              </a:tr>
              <a:tr h="38638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2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Core Functionalities (M4 + M5 + M6 + M7)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70 days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500142015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2.1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Review Submission (M4)</a:t>
                      </a:r>
                      <a:endParaRPr lang="en-PK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14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3336201466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2.2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Ai Modules (M5)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20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3741086189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2.3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Block chain integration (M6)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24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3049467615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2.4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Like reward (M7)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12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422601058"/>
                  </a:ext>
                </a:extLst>
              </a:tr>
              <a:tr h="35445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3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Admin &amp; Infrastructure (M3 + M9 + M10)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62 days</a:t>
                      </a:r>
                      <a:endParaRPr lang="en-PK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3917843550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Admin dashboard (M3)</a:t>
                      </a:r>
                      <a:endParaRPr lang="en-PK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20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839833151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3.2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Cloud deployment (M9)</a:t>
                      </a:r>
                      <a:endParaRPr lang="en-PK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20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908579716"/>
                  </a:ext>
                </a:extLst>
              </a:tr>
              <a:tr h="2625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3.3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Testing and Debugging (M10)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15 days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869879347"/>
                  </a:ext>
                </a:extLst>
              </a:tr>
              <a:tr h="2743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effectLst/>
                        </a:rPr>
                        <a:t>3.4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Final documentation </a:t>
                      </a:r>
                      <a:endParaRPr lang="en-PK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</a:rPr>
                        <a:t>7 days</a:t>
                      </a:r>
                      <a:endParaRPr lang="en-PK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582" marR="60582" marT="0" marB="0"/>
                </a:tc>
                <a:extLst>
                  <a:ext uri="{0D108BD9-81ED-4DB2-BD59-A6C34878D82A}">
                    <a16:rowId xmlns:a16="http://schemas.microsoft.com/office/drawing/2014/main" val="108933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43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3F43-B5CE-A872-D123-64247AFE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F2014D-2DAE-F945-2D04-D2802AA0F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297" y="3563978"/>
            <a:ext cx="7043551" cy="306324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319E57-C6CF-2123-947A-B12BA53AE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815" y="0"/>
            <a:ext cx="7080033" cy="329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33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51D6-FF5B-EF6C-433B-F3AEC40E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C160-2B2E-C297-4922-EB9669DB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356" y="2359604"/>
            <a:ext cx="8911687" cy="83146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Rockwell" panose="02060603020205020403" pitchFamily="18" charset="0"/>
              </a:rPr>
              <a:t>Thank You so much</a:t>
            </a:r>
            <a:endParaRPr lang="en-PK" b="1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E00FB-AEB9-BD04-D528-50A188173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332" y="2935184"/>
            <a:ext cx="8915400" cy="987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0" i="1" dirty="0">
                <a:solidFill>
                  <a:srgbClr val="0070C0"/>
                </a:solidFill>
                <a:effectLst/>
                <a:latin typeface="Rockwell" panose="02060603020205020403" pitchFamily="18" charset="0"/>
              </a:rPr>
              <a:t>Any Question…?</a:t>
            </a:r>
            <a:endParaRPr lang="en-GB" sz="3000" b="0" i="1" dirty="0">
              <a:solidFill>
                <a:srgbClr val="0070C0"/>
              </a:solidFill>
              <a:effectLst/>
              <a:latin typeface="Rockwell" panose="02060603020205020403" pitchFamily="18" charset="0"/>
            </a:endParaRPr>
          </a:p>
          <a:p>
            <a:pPr algn="l">
              <a:buNone/>
            </a:pPr>
            <a:endParaRPr lang="en-PK" sz="3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39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1054</TotalTime>
  <Words>1171</Words>
  <Application>Microsoft Office PowerPoint</Application>
  <PresentationFormat>Widescreen</PresentationFormat>
  <Paragraphs>231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Century Gothic</vt:lpstr>
      <vt:lpstr>DeepSeek-CJK-patch</vt:lpstr>
      <vt:lpstr>Roboto</vt:lpstr>
      <vt:lpstr>Rockwell</vt:lpstr>
      <vt:lpstr>Times New Roman</vt:lpstr>
      <vt:lpstr>Wingdings 3</vt:lpstr>
      <vt:lpstr>Wisp</vt:lpstr>
      <vt:lpstr>Project Details:</vt:lpstr>
      <vt:lpstr>Introduction:</vt:lpstr>
      <vt:lpstr>Problem Statement:</vt:lpstr>
      <vt:lpstr>Problem Solution:</vt:lpstr>
      <vt:lpstr>Methodology:</vt:lpstr>
      <vt:lpstr>Methodology:</vt:lpstr>
      <vt:lpstr>Methodology:</vt:lpstr>
      <vt:lpstr>Methodology:</vt:lpstr>
      <vt:lpstr>Methodology:</vt:lpstr>
      <vt:lpstr>Methodology:</vt:lpstr>
      <vt:lpstr>Tech Stack:</vt:lpstr>
      <vt:lpstr>Tech Stack:</vt:lpstr>
      <vt:lpstr>Comparative Analysis:</vt:lpstr>
      <vt:lpstr>Work Breakdown Structure:</vt:lpstr>
      <vt:lpstr>PowerPoint Presentation</vt:lpstr>
      <vt:lpstr>Thank You so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Anas</dc:creator>
  <cp:lastModifiedBy>Muhammad Anas</cp:lastModifiedBy>
  <cp:revision>15</cp:revision>
  <dcterms:created xsi:type="dcterms:W3CDTF">2025-04-08T05:46:11Z</dcterms:created>
  <dcterms:modified xsi:type="dcterms:W3CDTF">2025-04-09T15:03:07Z</dcterms:modified>
</cp:coreProperties>
</file>